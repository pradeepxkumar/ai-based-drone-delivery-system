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6" r:id="rId19"/>
    <p:sldId id="277" r:id="rId20"/>
    <p:sldId id="278" r:id="rId21"/>
    <p:sldId id="28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86" y="17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/>
            </a:pPr>
            <a:r>
              <a:rPr lang="en-IN"/>
              <a:t>Building Height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9688"/>
            </a:solidFill>
          </c:spPr>
          <c:invertIfNegative val="1"/>
          <c:cat>
            <c:strRef>
              <c:f>Sheet1!$A$2:$A$8</c:f>
              <c:strCache>
                <c:ptCount val="7"/>
                <c:pt idx="0">
                  <c:v>30m</c:v>
                </c:pt>
                <c:pt idx="1">
                  <c:v>35m</c:v>
                </c:pt>
                <c:pt idx="2">
                  <c:v>40m</c:v>
                </c:pt>
                <c:pt idx="3">
                  <c:v>45m</c:v>
                </c:pt>
                <c:pt idx="4">
                  <c:v>50m</c:v>
                </c:pt>
                <c:pt idx="5">
                  <c:v>55m</c:v>
                </c:pt>
                <c:pt idx="6">
                  <c:v>60m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80</c:v>
                </c:pt>
                <c:pt idx="1">
                  <c:v>150</c:v>
                </c:pt>
                <c:pt idx="2">
                  <c:v>250</c:v>
                </c:pt>
                <c:pt idx="3">
                  <c:v>320</c:v>
                </c:pt>
                <c:pt idx="4">
                  <c:v>180</c:v>
                </c:pt>
                <c:pt idx="5">
                  <c:v>70</c:v>
                </c:pt>
                <c:pt idx="6">
                  <c:v>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620-440C-8E4D-1AA4AFDD64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/>
            </a:pPr>
            <a:r>
              <a:rPr lang="en-IN"/>
              <a:t>Battery Usage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Battery %</c:v>
                </c:pt>
              </c:strCache>
            </c:strRef>
          </c:tx>
          <c:spPr>
            <a:solidFill>
              <a:srgbClr val="009688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Drone 1</c:v>
                </c:pt>
                <c:pt idx="1">
                  <c:v>Drone 2</c:v>
                </c:pt>
                <c:pt idx="2">
                  <c:v>Drone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7.4</c:v>
                </c:pt>
                <c:pt idx="1">
                  <c:v>9.4</c:v>
                </c:pt>
                <c:pt idx="2">
                  <c:v>5.6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16C-4341-99CA-E52E3B6172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/>
            </a:pPr>
            <a:r>
              <a:rPr lang="en-IN"/>
              <a:t>Average Path Distance (m)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Distance (m)</c:v>
                </c:pt>
              </c:strCache>
            </c:strRef>
          </c:tx>
          <c:spPr>
            <a:solidFill>
              <a:srgbClr val="1A73E8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A*</c:v>
                </c:pt>
                <c:pt idx="1">
                  <c:v>Best-First</c:v>
                </c:pt>
                <c:pt idx="2">
                  <c:v>BFS</c:v>
                </c:pt>
                <c:pt idx="3">
                  <c:v>Theta*</c:v>
                </c:pt>
                <c:pt idx="4">
                  <c:v>RRT*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8438</c:v>
                </c:pt>
                <c:pt idx="1">
                  <c:v>8510</c:v>
                </c:pt>
                <c:pt idx="2">
                  <c:v>8473</c:v>
                </c:pt>
                <c:pt idx="3">
                  <c:v>8459</c:v>
                </c:pt>
                <c:pt idx="4">
                  <c:v>10736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D11-47C8-8504-8A8CC1B553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914400"/>
            <a:ext cx="9418320" cy="4754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0" y="1188720"/>
            <a:ext cx="484632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8869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33333"/>
                </a:solidFill>
                <a:latin typeface="Calibri"/>
              </a:defRPr>
            </a:pPr>
            <a:r>
              <a:rPr dirty="0"/>
              <a:t>AI-Based Drone Delivery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9636" y="2574036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 Light"/>
              </a:defRPr>
            </a:pPr>
            <a:r>
              <a:rPr dirty="0"/>
              <a:t>Conflict-Aware Path Recommendation for Urban India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715789" y="2926081"/>
            <a:ext cx="4788131" cy="5777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3108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Calibri"/>
              </a:defRPr>
            </a:pPr>
            <a:r>
              <a:t>Presented By: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42900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 Light"/>
              </a:defRPr>
            </a:pPr>
            <a:r>
              <a:rPr dirty="0"/>
              <a:t>Aditya Acharya  |  Harphool Singh  |  Pradeep Kumar  |  </a:t>
            </a:r>
            <a:r>
              <a:rPr dirty="0" err="1"/>
              <a:t>Vishvendra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645920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Calibri"/>
              </a:defRPr>
            </a:pPr>
            <a:r>
              <a:t>Presented To: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34340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 Light"/>
              </a:defRPr>
            </a:pPr>
            <a:r>
              <a:t>Dr. Vipul Kumar Mishra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84632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Calibri"/>
              </a:defRPr>
            </a:pPr>
            <a:r>
              <a:t>Gati Shakti Vishwavidyalaya, Vadodara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13716" y="6510528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 Light"/>
              </a:defRPr>
            </a:pPr>
            <a:r>
              <a:rPr dirty="0"/>
              <a:t>Department of Artificial Intelligence &amp; Data Science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0" y="5074920"/>
            <a:ext cx="822960" cy="8229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AI&amp;DS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rPr dirty="0"/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7280" y="1330036"/>
            <a:ext cx="4081549" cy="369002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03120" y="14214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Calibri"/>
              </a:defRPr>
            </a:pPr>
            <a:r>
              <a:rPr dirty="0"/>
              <a:t>Part I: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7867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 Light"/>
              </a:defRPr>
            </a:pPr>
            <a:r>
              <a:t>1.  Problem Statement &amp;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7303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 Light"/>
              </a:defRPr>
            </a:pPr>
            <a:r>
              <a:t>2. 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06739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 Light"/>
              </a:defRPr>
            </a:pPr>
            <a:r>
              <a:t>3.  System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6175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 Light"/>
              </a:defRPr>
            </a:pPr>
            <a:r>
              <a:t>4.  Data Pipeline (Steps 1-4)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25611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 Light"/>
              </a:defRPr>
            </a:pPr>
            <a:r>
              <a:t>5.  A* Pathfinding Engine (Step 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50429" y="1330036"/>
            <a:ext cx="4389120" cy="369002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13717" y="14214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rPr dirty="0"/>
              <a:t>Part II: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1869" y="187867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 Light"/>
              </a:defRPr>
            </a:pPr>
            <a:r>
              <a:rPr dirty="0"/>
              <a:t>6.  Single Drone Dashboard (Step 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1869" y="247303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 Light"/>
              </a:defRPr>
            </a:pPr>
            <a:r>
              <a:rPr dirty="0"/>
              <a:t>7.  Fleet Optimization (Step 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1869" y="306739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 Light"/>
              </a:defRPr>
            </a:pPr>
            <a:r>
              <a:t>8.  Fleet Dashboard (Step 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1869" y="366175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 Light"/>
              </a:defRPr>
            </a:pPr>
            <a:r>
              <a:t>9.  Results &amp; Algorithm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1869" y="425611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 Light"/>
              </a:defRPr>
            </a:pPr>
            <a:r>
              <a:t>10.  Deployment &amp; Future 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5760720"/>
            <a:ext cx="5760720" cy="5486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91840" y="586462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4A853"/>
                </a:solidFill>
                <a:latin typeface="Calibri Light"/>
              </a:defRPr>
            </a:pPr>
            <a:r>
              <a:rPr dirty="0"/>
              <a:t>Total: 8-Stage Pipeline  |  5 Algorithms  |  Deployed on </a:t>
            </a:r>
            <a:r>
              <a:rPr dirty="0" err="1"/>
              <a:t>HuggingFace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Calibri"/>
              </a:defRPr>
            </a:pPr>
            <a:r>
              <a:t>Why Drone Delivery in India?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 Light"/>
              </a:rPr>
              <a:t>• 1.4 billion people: massive last-mile delivery demand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 Light"/>
              </a:rPr>
              <a:t>• Rural India: poor road connectivity, medical supply gaps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 Light"/>
              </a:rPr>
              <a:t>• Urban India: traffic congestion, time-critical deliveries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 Light"/>
              </a:rPr>
              <a:t>• DGCA Drone Rules 2021: regulatory framework 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95155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335"/>
                </a:solidFill>
                <a:latin typeface="Calibri"/>
              </a:defRPr>
            </a:pPr>
            <a:r>
              <a:rPr dirty="0"/>
              <a:t>Key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33651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 Light"/>
              </a:rPr>
              <a:t>• No-fly zones: airports, military, government buildings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 Light"/>
              </a:rPr>
              <a:t>• Conditional zones: hospitals, schools require permission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 Light"/>
              </a:rPr>
              <a:t>• Dense building clusters create narrow aerial corridors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 Light"/>
              </a:rPr>
              <a:t>• Multi-drone coordination under battery constraints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280160"/>
            <a:ext cx="4389120" cy="10972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040880" y="1600200"/>
            <a:ext cx="411480" cy="41148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0" y="141731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4335"/>
                </a:solidFill>
                <a:latin typeface="Calibri"/>
              </a:defRPr>
            </a:pPr>
            <a:r>
              <a:t>RED ZONE - No Fly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 Light"/>
              </a:defRPr>
            </a:pPr>
            <a:r>
              <a:t>Airports, military bases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651760"/>
            <a:ext cx="4389120" cy="10972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040880" y="2971800"/>
            <a:ext cx="411480" cy="411480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2788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C04"/>
                </a:solidFill>
                <a:latin typeface="Calibri"/>
              </a:defRPr>
            </a:pPr>
            <a:r>
              <a:t>YELLOW - Conditional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154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 Light"/>
              </a:defRPr>
            </a:pPr>
            <a:r>
              <a:t>Hospitals, schools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4023360"/>
            <a:ext cx="4389120" cy="10972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040880" y="4343400"/>
            <a:ext cx="411480" cy="4114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0" y="4160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A853"/>
                </a:solidFill>
                <a:latin typeface="Calibri"/>
              </a:defRPr>
            </a:pPr>
            <a:r>
              <a:t>GREEN - Safe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526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 Light"/>
              </a:defRPr>
            </a:pPr>
            <a:r>
              <a:t>Open airspace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5394960"/>
            <a:ext cx="4389120" cy="73152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0" y="544068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73E8"/>
                </a:solidFill>
                <a:latin typeface="Calibri Light"/>
              </a:defRPr>
            </a:pPr>
            <a:r>
              <a:t>Operational Area: Jaipur 20×20 km</a:t>
            </a:r>
            <a:br/>
            <a:r>
              <a:t>26.757°-26.937°N, 75.701°-75.901°E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1614AE3-B73B-8DAD-220E-ED29FB1CB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4427371"/>
            <a:ext cx="2867425" cy="23300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20116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" y="1325880"/>
            <a:ext cx="411480" cy="41148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Build Airspace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 Light"/>
              </a:defRPr>
            </a:pPr>
            <a:r>
              <a:t>India-compliant map with Red/Yellow/Green zones for Jaipur region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1188720"/>
            <a:ext cx="5303520" cy="20116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263640" y="132588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A* Pathfinder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1031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 Light"/>
              </a:defRPr>
            </a:pPr>
            <a:r>
              <a:t>Altitude-aware obstacle avoidance with string-pulling smoothing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66160"/>
            <a:ext cx="5303520" cy="20116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85800" y="3703320"/>
            <a:ext cx="411480" cy="411480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Fleet Optimizer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80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 Light"/>
              </a:defRPr>
            </a:pPr>
            <a:r>
              <a:t>Multi-drone VRP using Google OR-Tools with capacity + battery constraints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566160"/>
            <a:ext cx="5303520" cy="20116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263640" y="3703320"/>
            <a:ext cx="411480" cy="4114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Interactive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480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 Light"/>
              </a:defRPr>
            </a:pPr>
            <a:r>
              <a:t>2D/3D visualization with Streamlit, deployed on HuggingFace Spaces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6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572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688"/>
                </a:solidFill>
                <a:latin typeface="Calibr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10515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Strengths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Weaknesses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References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Potential Fields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Simple, real-time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Local minima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Khatib, 1986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A* Search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Optimal, complete, fast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Grid-dependent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Hart et al., 1968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RRT*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High-dim, any 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Non-deterministic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Karaman, 2011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Theta*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Any-angle smooth paths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More node exploration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Nash et al., 2007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VRP Solvers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Fleet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NP-hard scaling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Dantzig, 1959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846320"/>
            <a:ext cx="10515600" cy="109728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4335"/>
                </a:solidFill>
                <a:latin typeface="Calibri"/>
              </a:defRPr>
            </a:pPr>
            <a:r>
              <a:t>Research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 Light"/>
              </a:defRPr>
            </a:pPr>
            <a:r>
              <a:t>No existing work combines India-specific regulatory zones + altitude-aware building avoidance + multi-drone fleet optimization in a single deployable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System Architecture — 8-Stage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468880" cy="9144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Calibri"/>
              </a:defRPr>
            </a:pPr>
            <a:r>
              <a:t>Step 1</a:t>
            </a:r>
            <a:br/>
            <a:r>
              <a:t>Map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417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3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188720"/>
            <a:ext cx="2468880" cy="9144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29000" y="1234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Calibri"/>
              </a:defRPr>
            </a:pPr>
            <a:r>
              <a:t>Step 2</a:t>
            </a:r>
            <a:br/>
            <a:r>
              <a:t>Fetch Buildings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79" y="1417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3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188720"/>
            <a:ext cx="2468880" cy="9144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19" y="1234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Calibri"/>
              </a:defRPr>
            </a:pPr>
            <a:r>
              <a:t>Step 3</a:t>
            </a:r>
            <a:br/>
            <a:r>
              <a:t>Simulate Buildings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417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3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399" y="1188720"/>
            <a:ext cx="2468880" cy="9144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6839" y="1234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Calibri"/>
              </a:defRPr>
            </a:pPr>
            <a:r>
              <a:t>Step 4</a:t>
            </a:r>
            <a:br/>
            <a:r>
              <a:t>Merge Master Map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0400"/>
            <a:ext cx="2468880" cy="100584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246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88"/>
                </a:solidFill>
                <a:latin typeface="Calibri"/>
              </a:defRPr>
            </a:pPr>
            <a:r>
              <a:t>Step 5</a:t>
            </a:r>
            <a:br/>
            <a:r>
              <a:t>Multi-Algo</a:t>
            </a:r>
            <a:br/>
            <a:r>
              <a:t>Pathfinder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429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3200400"/>
            <a:ext cx="2468880" cy="100584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29000" y="3246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88"/>
                </a:solidFill>
                <a:latin typeface="Calibri"/>
              </a:defRPr>
            </a:pPr>
            <a:r>
              <a:t>Step 6</a:t>
            </a:r>
            <a:br/>
            <a:r>
              <a:t>Single Drone</a:t>
            </a:r>
            <a:br/>
            <a: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79" y="3429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79" y="3200400"/>
            <a:ext cx="2468880" cy="100584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19" y="3246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B1FA2"/>
                </a:solidFill>
                <a:latin typeface="Calibri"/>
              </a:defRPr>
            </a:pPr>
            <a:r>
              <a:t>Step 7</a:t>
            </a:r>
            <a:br/>
            <a:r>
              <a:t>Fleet Optimizer</a:t>
            </a:r>
            <a:br/>
            <a:r>
              <a:t>(OR-Tools)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429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B1FA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399" y="3200400"/>
            <a:ext cx="2468880" cy="100584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06839" y="3246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B1FA2"/>
                </a:solidFill>
                <a:latin typeface="Calibri"/>
              </a:defRPr>
            </a:pPr>
            <a:r>
              <a:t>Step 8</a:t>
            </a:r>
            <a:br/>
            <a:r>
              <a:t>Fleet Dashboard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572000"/>
            <a:ext cx="3474720" cy="14630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4663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029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 Light"/>
              </a:defRPr>
            </a:pPr>
            <a:r>
              <a:t>GeoJSON zones + OSMnx buildings + Gaussian simulation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79" y="4572000"/>
            <a:ext cx="3474720" cy="146304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34840" y="4663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Calibri"/>
              </a:defRPr>
            </a:pPr>
            <a:r>
              <a:t>Engine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5029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 Light"/>
              </a:defRPr>
            </a:pPr>
            <a:r>
              <a:t>Multi-algorithm pathfinding with string-pulling smoothing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4572000"/>
            <a:ext cx="3474720" cy="146304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83879" y="4663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B1FA2"/>
                </a:solidFill>
                <a:latin typeface="Calibri"/>
              </a:defRPr>
            </a:pPr>
            <a:r>
              <a:t>Fleet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5029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 Light"/>
              </a:defRPr>
            </a:pPr>
            <a:r>
              <a:t>OR-Tools VRP with capacity + battery constraints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DB7B93A-B968-AB91-8487-369E12C2189A}"/>
              </a:ext>
            </a:extLst>
          </p:cNvPr>
          <p:cNvCxnSpPr>
            <a:cxnSpLocks/>
          </p:cNvCxnSpPr>
          <p:nvPr/>
        </p:nvCxnSpPr>
        <p:spPr>
          <a:xfrm flipH="1">
            <a:off x="2167759" y="2423160"/>
            <a:ext cx="8111358" cy="4201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5F976C7-1DDB-6062-09F4-B837DD782B36}"/>
              </a:ext>
            </a:extLst>
          </p:cNvPr>
          <p:cNvCxnSpPr/>
          <p:nvPr/>
        </p:nvCxnSpPr>
        <p:spPr>
          <a:xfrm>
            <a:off x="10279117" y="2103120"/>
            <a:ext cx="0" cy="320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4C39BB4-C81A-5327-16A2-4DDC22FA2B4F}"/>
              </a:ext>
            </a:extLst>
          </p:cNvPr>
          <p:cNvCxnSpPr/>
          <p:nvPr/>
        </p:nvCxnSpPr>
        <p:spPr>
          <a:xfrm>
            <a:off x="2167759" y="2843311"/>
            <a:ext cx="0" cy="357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5029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Python 3.11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GIS Processing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GeoPandas, Shapely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Building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OSMnx (OpenStreetMap)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Pathfinding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Custom A*, BFS, Best-First, Theta*, RRT*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Fleet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Google OR-Tools 9.10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Dashboard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Streamlit 1.55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2D Visualization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Folium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3D Visualization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PyDeck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Hosting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HuggingFace Spaces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0" y="1188720"/>
            <a:ext cx="5029200" cy="5486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73E8"/>
                </a:solidFill>
                <a:latin typeface="Calibri"/>
              </a:defRPr>
            </a:pPr>
            <a:r>
              <a:t>HuggingFace Spaces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47088"/>
            <a:ext cx="5029200" cy="54864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9385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88"/>
                </a:solidFill>
                <a:latin typeface="Calibri"/>
              </a:defRPr>
            </a:pPr>
            <a:r>
              <a:t>Streamlit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505456"/>
            <a:ext cx="5029200" cy="5486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25968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73E8"/>
                </a:solidFill>
                <a:latin typeface="Calibri"/>
              </a:defRPr>
            </a:pPr>
            <a:r>
              <a:t>Folium + PyDeck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163824"/>
            <a:ext cx="5029200" cy="54864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25526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B1FA2"/>
                </a:solidFill>
                <a:latin typeface="Calibri"/>
              </a:defRPr>
            </a:pPr>
            <a:r>
              <a:t>OR-Tools (Fleet)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822191"/>
            <a:ext cx="5029200" cy="54864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3913631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88"/>
                </a:solidFill>
                <a:latin typeface="Calibri"/>
              </a:defRPr>
            </a:pPr>
            <a:r>
              <a:t>A* Pathfinder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480559"/>
            <a:ext cx="5029200" cy="54864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457199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BC04"/>
                </a:solidFill>
                <a:latin typeface="Calibri"/>
              </a:defRPr>
            </a:pPr>
            <a:r>
              <a:t>GeoPandas + OSMnx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138928"/>
            <a:ext cx="5029200" cy="5486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523036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66666"/>
                </a:solidFill>
                <a:latin typeface="Calibri"/>
              </a:defRPr>
            </a:pPr>
            <a:r>
              <a:t>Python 3.11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943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 Light"/>
              </a:defRPr>
            </a:pPr>
            <a:r>
              <a:t>Technology Stack (Top to Bottom)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Steps 1-2: Map Analysis &amp; Building Fetch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793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Calibri"/>
              </a:defRPr>
            </a:pPr>
            <a:r>
              <a:rPr dirty="0"/>
              <a:t>Step 1: Airspace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7073" y="1990127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dirty="0">
                <a:solidFill>
                  <a:srgbClr val="333333"/>
                </a:solidFill>
                <a:latin typeface="Calibri Light"/>
              </a:rPr>
              <a:t>• 12 Red Zones: No-fly (airports, military) — Height: 500m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dirty="0">
                <a:solidFill>
                  <a:srgbClr val="333333"/>
                </a:solidFill>
                <a:latin typeface="Calibri Light"/>
              </a:rPr>
              <a:t>• 20 Yellow Zones: Conditional (hospitals, schools)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dirty="0">
                <a:solidFill>
                  <a:srgbClr val="333333"/>
                </a:solidFill>
                <a:latin typeface="Calibri Light"/>
              </a:rPr>
              <a:t>• Boundary: 20×20 km operational area over Jaipur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4434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rPr dirty="0"/>
              <a:t>Step 2: </a:t>
            </a:r>
            <a:r>
              <a:rPr dirty="0" err="1"/>
              <a:t>OSMnx</a:t>
            </a:r>
            <a:r>
              <a:rPr dirty="0"/>
              <a:t> Building Fetch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073" y="4079516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dirty="0">
                <a:solidFill>
                  <a:srgbClr val="333333"/>
                </a:solidFill>
                <a:latin typeface="Calibri Light"/>
              </a:rPr>
              <a:t>• Query OpenStreetMap for Jaipur building footprints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dirty="0">
                <a:solidFill>
                  <a:srgbClr val="333333"/>
                </a:solidFill>
                <a:latin typeface="Calibri Light"/>
              </a:rPr>
              <a:t>• Extract polygon geometries + metadata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dirty="0">
                <a:solidFill>
                  <a:srgbClr val="333333"/>
                </a:solidFill>
                <a:latin typeface="Calibri Light"/>
              </a:rPr>
              <a:t>• Assign realistic heights where data is missing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17278" y="1463040"/>
            <a:ext cx="3812721" cy="43891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25184" y="1576511"/>
            <a:ext cx="3596907" cy="31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73E8"/>
                </a:solidFill>
                <a:latin typeface="Calibri"/>
              </a:defRPr>
            </a:pPr>
            <a:r>
              <a:rPr dirty="0"/>
              <a:t>Airspace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27024" y="2023110"/>
            <a:ext cx="3237216" cy="5829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97402" y="2183770"/>
            <a:ext cx="28775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A4335"/>
                </a:solidFill>
                <a:latin typeface="Calibri Light"/>
              </a:defRPr>
            </a:pPr>
            <a:r>
              <a:rPr dirty="0"/>
              <a:t>RED: Airport (No-Fly)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7192" y="2183770"/>
            <a:ext cx="179845" cy="22420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27024" y="2754630"/>
            <a:ext cx="3237216" cy="5829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97402" y="2886715"/>
            <a:ext cx="28775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A4335"/>
                </a:solidFill>
                <a:latin typeface="Calibri Light"/>
              </a:defRPr>
            </a:pPr>
            <a:r>
              <a:rPr dirty="0"/>
              <a:t>RED: Military 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192" y="2892668"/>
            <a:ext cx="179845" cy="22420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827024" y="3486150"/>
            <a:ext cx="3237216" cy="5829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91143" y="3598641"/>
            <a:ext cx="28775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C04"/>
                </a:solidFill>
                <a:latin typeface="Calibri Light"/>
              </a:defRPr>
            </a:pPr>
            <a:r>
              <a:rPr dirty="0"/>
              <a:t>YELLOW: Hospital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2061" y="3636047"/>
            <a:ext cx="179845" cy="22420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827024" y="4217670"/>
            <a:ext cx="3237216" cy="5829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97402" y="4261536"/>
            <a:ext cx="28775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C04"/>
                </a:solidFill>
                <a:latin typeface="Calibri Light"/>
              </a:defRPr>
            </a:pPr>
            <a:r>
              <a:rPr dirty="0"/>
              <a:t>YELLOW: School Zone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2062" y="4392341"/>
            <a:ext cx="179845" cy="22420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827024" y="4949190"/>
            <a:ext cx="3237216" cy="5829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35353" y="5109850"/>
            <a:ext cx="28775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A853"/>
                </a:solidFill>
                <a:latin typeface="Calibri Light"/>
              </a:defRPr>
            </a:pPr>
            <a:r>
              <a:rPr dirty="0"/>
              <a:t>GREEN: Safe Corridor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37192" y="5118756"/>
            <a:ext cx="179845" cy="22420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3A8265F7-6770-B0CB-EDA3-8DD2946EE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07AAB65-0A30-6FCA-86C4-6589B480C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219" y="2081306"/>
            <a:ext cx="2754300" cy="32966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Steps 3-4: Building Simulation &amp; Master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Calibri"/>
              </a:defRPr>
            </a:pPr>
            <a:r>
              <a:t>Step 3: Gaussian Building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 Light"/>
              </a:rPr>
              <a:t>• 1,079 buildings procedurally generated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 Light"/>
              </a:rPr>
              <a:t>• Gaussian cluster density model with 8 centers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 Light"/>
              </a:rPr>
              <a:t>• Heights: N(45, 10) truncated to [30, 60] m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 Light"/>
              </a:rPr>
              <a:t>• Minimum gap: 18m between buildings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Step 4: Master Map Merge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 Light"/>
              </a:rPr>
              <a:t>• Merge zones + buildings → master_map.geojson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 Light"/>
              </a:rPr>
              <a:t>• Each feature has height attribute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 Light"/>
              </a:rPr>
              <a:t>• Red zones: 500m, Yellow: 400m height encoding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0" y="1097280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0" y="5029200"/>
            <a:ext cx="5029200" cy="100584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50749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9688"/>
                </a:solidFill>
                <a:latin typeface="Calibri Light"/>
              </a:defRPr>
            </a:pPr>
            <a:r>
              <a:t>μ = 45m  |  σ = 10m  |  n = 1,079 buildings</a:t>
            </a:r>
            <a:br/>
            <a:r>
              <a:t>Min gap = 18m  |  8 cluster centers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Step 5: Multi-Algorithm Pathfinding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Calibri"/>
              </a:defRPr>
            </a:pPr>
            <a:r>
              <a:t>Grid Discretization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 Light"/>
              </a:rPr>
              <a:t>• 401 × 400 grid = 160,400 cells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 Light"/>
              </a:rPr>
              <a:t>• Resolution: ~50m per cell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 Light"/>
              </a:rPr>
              <a:t>• 8-directional movement supported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A* Formula: f(n) = g(n) + h(n)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 Light"/>
              </a:defRPr>
            </a:pPr>
            <a:r>
              <a:t>Octile Heuristic (admissible + consistent):</a:t>
            </a:r>
            <a:br/>
            <a:r>
              <a:t>h(n) = Dmax + (√2 - 1) · 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Calibri"/>
              </a:defRPr>
            </a:pPr>
            <a:r>
              <a:t>5 Algorithms Implemented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5196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 Light"/>
              </a:rPr>
              <a:t>• A*: Optimal + complete, recommended default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 Light"/>
              </a:rPr>
              <a:t>• Best-First Search: Fastest, greedy heuristic only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 Light"/>
              </a:rPr>
              <a:t>• BFS: Level-order, no heuristic guidance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 Light"/>
              </a:rPr>
              <a:t>• Theta*: Any-angle paths via line-of-sight checks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 Light"/>
              </a:rPr>
              <a:t>• RRT*: Sampling-based, asymptotically optimal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5029200" cy="2286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73E8"/>
                </a:solidFill>
                <a:latin typeface="Calibri"/>
              </a:defRPr>
            </a:pPr>
            <a:r>
              <a:t>Cell Blocking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5544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 Light"/>
              </a:defRPr>
            </a:pPr>
            <a:r>
              <a:t>blocked(c) = TRUE if:</a:t>
            </a:r>
            <a:br/>
            <a:r>
              <a:t>  • c ∈ Red Zone or unpermitted Yellow Zone</a:t>
            </a:r>
            <a:br/>
            <a:r>
              <a:t>  • height(c) ≥ drone_altitude - safety_margin</a:t>
            </a:r>
            <a:br/>
            <a:br/>
            <a:r>
              <a:t>blocked(c) = FALSE otherwise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657600"/>
            <a:ext cx="5029200" cy="25603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3749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A853"/>
                </a:solidFill>
                <a:latin typeface="Calibri"/>
              </a:defRPr>
            </a:pPr>
            <a:r>
              <a:t>String-Pulling Smoothing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1148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 Light"/>
              </a:defRPr>
            </a:pPr>
            <a:r>
              <a:t>96% waypoint reduction on average</a:t>
            </a:r>
            <a:br/>
            <a:r>
              <a:t>156 raw waypoints → 6 smooth flight vectors</a:t>
            </a:r>
            <a:br/>
            <a:br/>
            <a:r>
              <a:t>Process:</a:t>
            </a:r>
            <a:br/>
            <a:r>
              <a:t>1. Start from first waypoint</a:t>
            </a:r>
            <a:br/>
            <a:r>
              <a:t>2. Try line to farthest visible point</a:t>
            </a:r>
            <a:br/>
            <a:r>
              <a:t>3. Skip intermediates if obstacle-free</a:t>
            </a:r>
            <a:br/>
            <a:r>
              <a:t>4. Advance and repeat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Altitude-Aware Obstacle Avoidance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Calibri"/>
              </a:defRPr>
            </a:pPr>
            <a:r>
              <a:t>Key Insight: Not all buildings are obstacles!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 Light"/>
              </a:defRPr>
            </a:pPr>
            <a:r>
              <a:t>A drone at 60m altitude with 10m safety margin:</a:t>
            </a:r>
            <a:br/>
            <a:r>
              <a:t>→ Threshold = 50m</a:t>
            </a:r>
            <a:br/>
            <a:r>
              <a:t>→ Buildings &lt; 50m are IGNORED</a:t>
            </a:r>
            <a:br/>
            <a:r>
              <a:t>→ Buildings ≥ 50m are AVOIDED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926080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Altitude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Safety Margin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Buildings Blocked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40m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10m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30m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1,079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60m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10m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50m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412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80m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10m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70m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60m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0m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60m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0" y="1097280"/>
            <a:ext cx="4846320" cy="47548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73E8"/>
                </a:solidFill>
                <a:latin typeface="Calibri"/>
              </a:defRPr>
            </a:pPr>
            <a:r>
              <a:t>Altitude Profile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4114800"/>
            <a:ext cx="548640" cy="1371600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86600" y="38404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4A853"/>
                </a:solidFill>
                <a:latin typeface="Calibri Light"/>
              </a:defRPr>
            </a:pPr>
            <a:r>
              <a:t>30m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474720"/>
            <a:ext cx="548640" cy="2011680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79" y="3200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4A853"/>
                </a:solidFill>
                <a:latin typeface="Calibri Light"/>
              </a:defRPr>
            </a:pPr>
            <a:r>
              <a:t>45m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2926080"/>
            <a:ext cx="548640" cy="2560320"/>
          </a:xfrm>
          <a:prstGeom prst="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23959" y="26517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A4335"/>
                </a:solidFill>
                <a:latin typeface="Calibri Light"/>
              </a:defRPr>
            </a:pPr>
            <a:r>
              <a:t>55m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38359" y="2743200"/>
            <a:ext cx="548640" cy="2743200"/>
          </a:xfrm>
          <a:prstGeom prst="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92639" y="24688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A4335"/>
                </a:solidFill>
                <a:latin typeface="Calibri Light"/>
              </a:defRPr>
            </a:pPr>
            <a:r>
              <a:t>60m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07040" y="4297680"/>
            <a:ext cx="548640" cy="1188720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61319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4A853"/>
                </a:solidFill>
                <a:latin typeface="Calibri Light"/>
              </a:defRPr>
            </a:pPr>
            <a:r>
              <a:t>25m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3017520"/>
            <a:ext cx="4389120" cy="274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73E8"/>
                </a:solidFill>
                <a:latin typeface="Calibri"/>
              </a:defRPr>
            </a:pPr>
            <a:r>
              <a:t>Drone: 60m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3657600"/>
            <a:ext cx="4389120" cy="18288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0" y="3383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C04"/>
                </a:solidFill>
                <a:latin typeface="Calibri"/>
              </a:defRPr>
            </a:pPr>
            <a:r>
              <a:t>Threshold: 50m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Step 6: Single Drone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Calibri"/>
              </a:defRPr>
            </a:pPr>
            <a:r>
              <a:t>Dashboard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 Light"/>
              </a:rPr>
              <a:t>• Point &amp; Click: set pickup/drop on interactive map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 Light"/>
              </a:rPr>
              <a:t>• Manual Entry: lat/lon coordinate input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 Light"/>
              </a:rPr>
              <a:t>• Yellow Zone Selector: permit/deny per zone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 Light"/>
              </a:rPr>
              <a:t>• 2D Map: Folium with zones + buildings + path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 Light"/>
              </a:rPr>
              <a:t>• 3D Map: PyDeck with extruded buildings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 Light"/>
              </a:rPr>
              <a:t>• Metrics: distance, time, battery,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Sample Results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572000"/>
          <a:ext cx="5029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Mission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Distance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Compute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N→S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9.47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11.4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47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Cross-city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15.83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19.0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89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9" name="Picture 8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6692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3D Visualization — Fleet Routes over Jaipur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3D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772400" cy="5029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097280"/>
            <a:ext cx="3017520" cy="50292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0" y="1188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73E8"/>
                </a:solidFill>
                <a:latin typeface="Calibri"/>
              </a:defRPr>
            </a:pPr>
            <a:r>
              <a:t>3D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645920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 Light"/>
              </a:rPr>
              <a:t>• Extruded building geometries (gold)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 Light"/>
              </a:rPr>
              <a:t>• Red zones rendered as obstacles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 Light"/>
              </a:rPr>
              <a:t>• Color-coded drone flight paths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 Light"/>
              </a:rPr>
              <a:t>• Interactive rotate/zoom/tilt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 Light"/>
              </a:rPr>
              <a:t>• PyDeck + Mapbox dark basemap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 Light"/>
              </a:rPr>
              <a:t>• Real-time fleet route overlay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Step 7: Fleet Optimization with Google OR-Tools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Calibri"/>
              </a:defRPr>
            </a:pPr>
            <a:r>
              <a:t>Vehicle Routing Problem (VRP)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 Light"/>
              </a:defRPr>
            </a:pPr>
            <a:r>
              <a:t>Minimize: Σ total fleet distance across all drones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Subject To: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 Light"/>
              </a:rPr>
              <a:t>• Weight per drone ≤ capacity (2.5 kg default)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 Light"/>
              </a:rPr>
              <a:t>• Distance per drone ≤ battery range (300 km)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 Light"/>
              </a:rPr>
              <a:t>• Each drop visited exactly once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 Light"/>
              </a:rPr>
              <a:t>• All routes start/end at warehouse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C04"/>
                </a:solidFill>
                <a:latin typeface="Calibri"/>
              </a:defRPr>
            </a:pPr>
            <a:r>
              <a:t>Cost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 Light"/>
              </a:defRPr>
            </a:pPr>
            <a:r>
              <a:t>Cij = A*-safe distance between locations i, j</a:t>
            </a:r>
            <a:br/>
            <a:r>
              <a:t>Requires C(N,2) A* computations</a:t>
            </a:r>
            <a:br/>
            <a:r>
              <a:t>Distances are safe-path (not Euclidean)!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66"/>
                </a:solidFill>
                <a:latin typeface="Calibri Light"/>
              </a:defRPr>
            </a:pPr>
            <a:r>
              <a:t>Solver: PATH_CHEAPEST_ARC + GUIDED_LOCAL_SEARCH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097280"/>
            <a:ext cx="5029200" cy="47548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73E8"/>
                </a:solidFill>
                <a:latin typeface="Calibri"/>
              </a:defRPr>
            </a:pPr>
            <a:r>
              <a:t>Route Assignment Example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0" y="3200400"/>
            <a:ext cx="457200" cy="4572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WH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0" y="182880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D1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0" y="182880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D2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0" y="365760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D3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0" y="502920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D4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0" y="502920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D5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0" y="347472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D6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Fleet Optimization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Calibri"/>
              </a:defRPr>
            </a:pPr>
            <a:r>
              <a:t>Scenario: 1 Warehouse, 5 Drops, 3 Drones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6400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Drone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Drops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Distance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Battery Used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Drone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D2, D5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22.31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2.3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Drone 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D1, D3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28.14 km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2.1 kg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9.4%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Drone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D4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16.71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0.5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67.16 km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4.9 kg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297680"/>
            <a:ext cx="6400800" cy="16459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A853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 Light"/>
              </a:rPr>
              <a:t>• All 5 drops served ✓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 Light"/>
              </a:rPr>
              <a:t>• Max battery: 9.4% (of 300 km range) ✓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 Light"/>
              </a:rPr>
              <a:t>• OR-Tools converged in &lt; 10s ✓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 Light"/>
              </a:rPr>
              <a:t>• All paths avoid Red zones ✓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79" y="1371600"/>
          <a:ext cx="4114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Algorithm Comparison — Performance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Success Rate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Distance (m)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Time (s)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Nodes Explored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A* (Recommended)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5/5 (100%)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8,438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0.051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151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Best-First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5/5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8,510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0.019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BFS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5/5 (100%)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8,473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0.296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151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Theta*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5/5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8,459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0.173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1,066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RRT*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3/5 (60%)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10,736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48.84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 Light"/>
                        </a:defRPr>
                      </a:pPr>
                      <a:r>
                        <a:t>13,997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631480"/>
              </p:ext>
            </p:extLst>
          </p:nvPr>
        </p:nvGraphicFramePr>
        <p:xfrm>
          <a:off x="3200400" y="4572000"/>
          <a:ext cx="53035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  <a:latin typeface="Calibri"/>
              </a:defRPr>
            </a:pPr>
            <a:r>
              <a:rPr dirty="0"/>
              <a:t>Average Nodes Explored </a:t>
            </a:r>
            <a:r>
              <a:rPr lang="en-US" dirty="0"/>
              <a:t>&amp; Computation Time by Algorithm</a:t>
            </a:r>
          </a:p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48639" y="777239"/>
            <a:ext cx="2302625" cy="45719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mparison_nodes_explo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717" y="1228427"/>
            <a:ext cx="4256116" cy="24729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84848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omparison_computation_time.png">
            <a:extLst>
              <a:ext uri="{FF2B5EF4-FFF2-40B4-BE49-F238E27FC236}">
                <a16:creationId xmlns:a16="http://schemas.microsoft.com/office/drawing/2014/main" id="{A6789C29-ED35-98EC-7819-6AC754B9E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930" y="1228427"/>
            <a:ext cx="4402975" cy="2475850"/>
          </a:xfrm>
          <a:prstGeom prst="rect">
            <a:avLst/>
          </a:prstGeom>
        </p:spPr>
      </p:pic>
      <p:pic>
        <p:nvPicPr>
          <p:cNvPr id="8" name="Picture 7" descr="comparison_path_distance.png">
            <a:extLst>
              <a:ext uri="{FF2B5EF4-FFF2-40B4-BE49-F238E27FC236}">
                <a16:creationId xmlns:a16="http://schemas.microsoft.com/office/drawing/2014/main" id="{F5FB70EA-A2CB-EBA8-D91D-EE98A46E0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1222" y="4040438"/>
            <a:ext cx="4743317" cy="253283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Deployment on HuggingFace Spaces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Calibri"/>
              </a:defRPr>
            </a:pPr>
            <a:r>
              <a:t>Live Public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 Light"/>
              </a:rPr>
              <a:t>• Hosted on HuggingFace Spaces (free tier)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 Light"/>
              </a:rPr>
              <a:t>• Streamlit SDK, containerized deployment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 Light"/>
              </a:rPr>
              <a:t>• No installation required — browser only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 Light"/>
              </a:rPr>
              <a:t>• Dual-mode: Single Drone + Fleet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Access URL: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73E8"/>
                </a:solidFill>
                <a:latin typeface="Calibri Light"/>
              </a:defRPr>
            </a:pPr>
            <a:r>
              <a:t>huggingface.co/spaces/harphool17/drone-route-planner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C04"/>
                </a:solidFill>
                <a:latin typeface="Calibri"/>
              </a:defRPr>
            </a:pPr>
            <a:r>
              <a:t>Deployment Stack: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 Light"/>
              </a:rPr>
              <a:t>• app.py → unified entry point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 Light"/>
              </a:rPr>
              <a:t>• requirements.txt → auto-install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 Light"/>
              </a:rPr>
              <a:t>• data/ + output/ → pre-computed maps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 Light"/>
              </a:rPr>
              <a:t>• Git push → auto-build &amp; deploy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097280"/>
            <a:ext cx="4846320" cy="50292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73E8"/>
                </a:solidFill>
                <a:latin typeface="Calibri"/>
              </a:defRPr>
            </a:pPr>
            <a:r>
              <a:t>Deployment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1737360"/>
            <a:ext cx="4114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132320" y="182880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 Light"/>
              </a:defRPr>
            </a:pPr>
            <a:r>
              <a:t>Push Code to Git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2560320"/>
            <a:ext cx="4114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132320" y="2651760"/>
            <a:ext cx="365760" cy="3657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 Light"/>
              </a:defRPr>
            </a:pPr>
            <a:r>
              <a:t>Build Container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3383280"/>
            <a:ext cx="4114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132320" y="3474720"/>
            <a:ext cx="365760" cy="365760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 Light"/>
              </a:defRPr>
            </a:pPr>
            <a:r>
              <a:t>Install Dependencies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4206240"/>
            <a:ext cx="4114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132320" y="4297679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297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 Light"/>
              </a:defRPr>
            </a:pPr>
            <a:r>
              <a:t>Run Streamlit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0" y="5029200"/>
            <a:ext cx="4114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132320" y="512064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 Light"/>
              </a:defRPr>
            </a:pPr>
            <a:r>
              <a:t>Public URL Live!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47548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0934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Calibri"/>
              </a:defRPr>
            </a:pPr>
            <a:r>
              <a:rPr dirty="0"/>
              <a:t>Short-Term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01068"/>
            <a:ext cx="475488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 dirty="0">
                <a:solidFill>
                  <a:srgbClr val="333333"/>
                </a:solidFill>
                <a:latin typeface="Calibri Light"/>
              </a:rPr>
              <a:t>• Dynamic Obstacles: </a:t>
            </a:r>
            <a:r>
              <a:rPr sz="1400" b="0" dirty="0">
                <a:solidFill>
                  <a:srgbClr val="333333"/>
                </a:solidFill>
                <a:latin typeface="Calibri Light"/>
              </a:rPr>
              <a:t>ADS-B data for moving drones/aircraft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 dirty="0">
                <a:solidFill>
                  <a:srgbClr val="333333"/>
                </a:solidFill>
                <a:latin typeface="Calibri Light"/>
              </a:rPr>
              <a:t>• Weather Integration: </a:t>
            </a:r>
            <a:r>
              <a:rPr sz="1400" b="0" dirty="0">
                <a:solidFill>
                  <a:srgbClr val="333333"/>
                </a:solidFill>
                <a:latin typeface="Calibri Light"/>
              </a:rPr>
              <a:t>Wind speed → battery adjustment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 dirty="0">
                <a:solidFill>
                  <a:srgbClr val="333333"/>
                </a:solidFill>
                <a:latin typeface="Calibri Light"/>
              </a:rPr>
              <a:t>• 3D Path Planning: </a:t>
            </a:r>
            <a:r>
              <a:rPr sz="1400" b="0" dirty="0">
                <a:solidFill>
                  <a:srgbClr val="333333"/>
                </a:solidFill>
                <a:latin typeface="Calibri Light"/>
              </a:rPr>
              <a:t>Altitude-varying paths with layered grids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029200" cy="475488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0934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rPr dirty="0"/>
              <a:t>Long-Term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01068"/>
            <a:ext cx="44805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 dirty="0">
                <a:solidFill>
                  <a:srgbClr val="333333"/>
                </a:solidFill>
                <a:latin typeface="Calibri Light"/>
              </a:rPr>
              <a:t>• Multi-Depot VRP: </a:t>
            </a:r>
            <a:r>
              <a:rPr sz="1400" b="0" dirty="0">
                <a:solidFill>
                  <a:srgbClr val="333333"/>
                </a:solidFill>
                <a:latin typeface="Calibri Light"/>
              </a:rPr>
              <a:t>Multiple warehouse locations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 dirty="0">
                <a:solidFill>
                  <a:srgbClr val="333333"/>
                </a:solidFill>
                <a:latin typeface="Calibri Light"/>
              </a:rPr>
              <a:t>• GPU Acceleration: </a:t>
            </a:r>
            <a:r>
              <a:rPr sz="1400" b="0" dirty="0">
                <a:solidFill>
                  <a:srgbClr val="333333"/>
                </a:solidFill>
                <a:latin typeface="Calibri Light"/>
              </a:rPr>
              <a:t>NVIDIA </a:t>
            </a:r>
            <a:r>
              <a:rPr sz="1400" b="0" dirty="0" err="1">
                <a:solidFill>
                  <a:srgbClr val="333333"/>
                </a:solidFill>
                <a:latin typeface="Calibri Light"/>
              </a:rPr>
              <a:t>cuOpt</a:t>
            </a:r>
            <a:r>
              <a:rPr sz="1400" b="0" dirty="0">
                <a:solidFill>
                  <a:srgbClr val="333333"/>
                </a:solidFill>
                <a:latin typeface="Calibri Light"/>
              </a:rPr>
              <a:t> for 500+ drops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 dirty="0">
                <a:solidFill>
                  <a:srgbClr val="333333"/>
                </a:solidFill>
                <a:latin typeface="Calibri Light"/>
              </a:rPr>
              <a:t>• ML Heuristics: </a:t>
            </a:r>
            <a:r>
              <a:rPr sz="1400" b="0" dirty="0">
                <a:solidFill>
                  <a:srgbClr val="333333"/>
                </a:solidFill>
                <a:latin typeface="Calibri Light"/>
              </a:rPr>
              <a:t>Neural network-trained A* heuristic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663440"/>
            <a:ext cx="10881360" cy="12801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709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4335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74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 Light"/>
              </a:defRPr>
            </a:pPr>
            <a:r>
              <a:t>Static environment (no dynamic obstacles)  •  Constant altitude flight  •  No wind/weather modeling  •  50m grid resolution may miss narrow gaps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474720" cy="32004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920240" y="1371600"/>
            <a:ext cx="640080" cy="64008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73E8"/>
                </a:solidFill>
                <a:latin typeface="Calibri"/>
              </a:defRPr>
            </a:pPr>
            <a:r>
              <a:t>Safe Paths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 Light"/>
              </a:defRPr>
            </a:pPr>
            <a:r>
              <a:t>A* with string-pulling</a:t>
            </a:r>
            <a:br/>
            <a:r>
              <a:t>&lt; 100ms computation</a:t>
            </a:r>
            <a:br/>
            <a:r>
              <a:t>1.24× detour ratio</a:t>
            </a:r>
            <a:br/>
            <a:r>
              <a:t>100% success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188720"/>
            <a:ext cx="3474720" cy="320040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669279" y="1371600"/>
            <a:ext cx="640080" cy="6400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88"/>
                </a:solidFill>
                <a:latin typeface="Calibri"/>
              </a:defRPr>
            </a:pPr>
            <a:r>
              <a:t>Fleet Optimized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5603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 Light"/>
              </a:defRPr>
            </a:pPr>
            <a:r>
              <a:t>OR-Tools VRP solver</a:t>
            </a:r>
            <a:br/>
            <a:r>
              <a:t>Capacity + battery constraints</a:t>
            </a:r>
            <a:br/>
            <a:r>
              <a:t>All drops served</a:t>
            </a:r>
            <a:br/>
            <a:r>
              <a:t>&lt; 10s convergence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188720"/>
            <a:ext cx="3474720" cy="32004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418319" y="1371600"/>
            <a:ext cx="640080" cy="6400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A853"/>
                </a:solidFill>
                <a:latin typeface="Calibri"/>
              </a:defRPr>
            </a:pPr>
            <a:r>
              <a:t>Deployed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5603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 Light"/>
              </a:defRPr>
            </a:pPr>
            <a:r>
              <a:t>HuggingFace Spaces</a:t>
            </a:r>
            <a:br/>
            <a:r>
              <a:t>Public browser access</a:t>
            </a:r>
            <a:br/>
            <a:r>
              <a:t>Zero installation</a:t>
            </a:r>
            <a:br/>
            <a:r>
              <a:t>Dual-mode dashboard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54880"/>
            <a:ext cx="10881360" cy="12801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 Light"/>
              </a:defRPr>
            </a:pPr>
            <a:r>
              <a:t>Built a complete, deployable drone delivery system specific to Indian regulations, integrating multi-algorithm pathfinding (A*, Best-First, BFS, Theta*, RRT*), OR-Tools fleet optimization, and interactive 2D/3D visualization — accessible to anyone via a public URL.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8503920" cy="4572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25396" y="2054906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A73E8"/>
                </a:solidFill>
                <a:latin typeface="Calibri"/>
              </a:defRPr>
            </a:pPr>
            <a:r>
              <a:rPr dirty="0"/>
              <a:t>Thank You!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975956"/>
            <a:ext cx="210312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38404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66"/>
                </a:solidFill>
                <a:latin typeface="Calibri"/>
              </a:defRPr>
            </a:pPr>
            <a:r>
              <a:t>Live Demo: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1605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73E8"/>
                </a:solidFill>
                <a:latin typeface="Calibri Light"/>
              </a:defRPr>
            </a:pPr>
            <a:r>
              <a:t>huggingface.co/spaces/harphool17/drone-route-planner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75488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 Light"/>
              </a:defRPr>
            </a:pPr>
            <a:r>
              <a:rPr dirty="0"/>
              <a:t>Dr. Vipul Sharma  •  Aditya Acharya  •  Harphool Singh  •  Pradeep Kumar  •  </a:t>
            </a:r>
            <a:r>
              <a:rPr dirty="0" err="1"/>
              <a:t>Vishvendra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2025396" y="5355704"/>
            <a:ext cx="8138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Calibri"/>
              </a:defRPr>
            </a:pPr>
            <a:r>
              <a:rPr dirty="0"/>
              <a:t>Gati Shakti Vishwavidyalaya, Vadodara</a:t>
            </a:r>
            <a:r>
              <a:rPr lang="en-US" dirty="0"/>
              <a:t> </a:t>
            </a:r>
            <a:r>
              <a:rPr lang="en-IN" dirty="0"/>
              <a:t>• </a:t>
            </a:r>
            <a:r>
              <a:rPr lang="en-IN" dirty="0" err="1"/>
              <a:t>B.Tech</a:t>
            </a:r>
            <a:r>
              <a:rPr lang="en-IN" dirty="0"/>
              <a:t> (AI &amp; DS )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1476</TotalTime>
  <Words>1810</Words>
  <Application>Microsoft Office PowerPoint</Application>
  <PresentationFormat>Widescreen</PresentationFormat>
  <Paragraphs>373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pradeep kumar</cp:lastModifiedBy>
  <cp:revision>2</cp:revision>
  <dcterms:created xsi:type="dcterms:W3CDTF">2013-01-27T09:14:16Z</dcterms:created>
  <dcterms:modified xsi:type="dcterms:W3CDTF">2026-04-24T17:45:09Z</dcterms:modified>
  <cp:category/>
</cp:coreProperties>
</file>